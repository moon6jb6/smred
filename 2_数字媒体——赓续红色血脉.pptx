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7" r:id="rId5"/>
    <p:sldId id="258" r:id="rId6"/>
    <p:sldId id="261" r:id="rId7"/>
    <p:sldId id="267" r:id="rId8"/>
    <p:sldId id="266" r:id="rId9"/>
    <p:sldId id="282" r:id="rId10"/>
    <p:sldId id="273" r:id="rId11"/>
    <p:sldId id="272" r:id="rId12"/>
    <p:sldId id="283" r:id="rId13"/>
    <p:sldId id="275" r:id="rId14"/>
    <p:sldId id="276" r:id="rId15"/>
    <p:sldId id="284" r:id="rId16"/>
    <p:sldId id="268" r:id="rId17"/>
    <p:sldId id="277" r:id="rId18"/>
    <p:sldId id="278" r:id="rId19"/>
    <p:sldId id="280" r:id="rId20"/>
    <p:sldId id="262" r:id="rId21"/>
    <p:sldId id="265" r:id="rId22"/>
    <p:sldId id="27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6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80.xml"/><Relationship Id="rId2" Type="http://schemas.openxmlformats.org/officeDocument/2006/relationships/image" Target="../media/image8.jpeg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82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5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6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7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8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9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0.xml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41145" y="1390650"/>
            <a:ext cx="9799320" cy="1310005"/>
          </a:xfrm>
        </p:spPr>
        <p:txBody>
          <a:bodyPr/>
          <a:p>
            <a:r>
              <a:rPr lang="zh-CN" altLang="zh-CN" sz="5400" b="1">
                <a:solidFill>
                  <a:srgbClr val="FFFF00"/>
                </a:solidFill>
                <a:latin typeface="华文行楷" panose="02010800040101010101" charset="-122"/>
                <a:ea typeface="华文行楷" panose="02010800040101010101" charset="-122"/>
              </a:rPr>
              <a:t>赓续红色血脉，传承奋斗精神</a:t>
            </a:r>
            <a:endParaRPr lang="zh-CN" altLang="zh-CN" sz="5400" b="1">
              <a:solidFill>
                <a:srgbClr val="FFFF0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60000"/>
          </a:bodyPr>
          <a:p>
            <a:r>
              <a:rPr lang="en-US" altLang="zh-CN"/>
              <a:t>                                                </a:t>
            </a:r>
            <a:r>
              <a:rPr lang="en-US" altLang="zh-CN" b="1">
                <a:solidFill>
                  <a:schemeClr val="tx1"/>
                </a:solidFill>
              </a:rPr>
              <a:t>——</a:t>
            </a:r>
            <a:r>
              <a:rPr lang="zh-CN" altLang="en-US" b="1">
                <a:solidFill>
                  <a:schemeClr val="tx1"/>
                </a:solidFill>
              </a:rPr>
              <a:t>大学生数字媒体比赛汇报（需用</a:t>
            </a:r>
            <a:r>
              <a:rPr lang="en-US" altLang="zh-CN" b="1">
                <a:solidFill>
                  <a:schemeClr val="tx1"/>
                </a:solidFill>
              </a:rPr>
              <a:t>vscode</a:t>
            </a:r>
            <a:r>
              <a:rPr lang="zh-CN" altLang="en-US" b="1">
                <a:solidFill>
                  <a:schemeClr val="tx1"/>
                </a:solidFill>
              </a:rPr>
              <a:t>插件打开）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作品制作者：</a:t>
            </a:r>
            <a:r>
              <a:rPr lang="en-US" altLang="zh-CN" b="1">
                <a:solidFill>
                  <a:schemeClr val="tx1"/>
                </a:solidFill>
              </a:rPr>
              <a:t> 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岳亮（山西财经大学）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杨文强，安墨琳（燕山大学）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                  PPT</a:t>
            </a:r>
            <a:r>
              <a:rPr lang="zh-CN" altLang="en-US" b="1">
                <a:solidFill>
                  <a:schemeClr val="tx1"/>
                </a:solidFill>
              </a:rPr>
              <a:t>制作者：杨文强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 descr="九三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1115" y="-48260"/>
            <a:ext cx="12223115" cy="6906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2395" y="1984375"/>
            <a:ext cx="12345670" cy="2185035"/>
          </a:xfrm>
        </p:spPr>
        <p:txBody>
          <a:bodyPr/>
          <a:p>
            <a:pPr algn="ctr"/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制作背景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algn="ctr"/>
            <a:r>
              <a:rPr lang="zh-CN" altLang="en-US"/>
              <a:t>政策支持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40455" y="1638990"/>
            <a:ext cx="10969200" cy="4759200"/>
          </a:xfrm>
        </p:spPr>
        <p:txBody>
          <a:bodyPr/>
          <a:p>
            <a:pPr marL="0" indent="0" algn="l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九三阅兵的铿锵步伐，曾激荡亿万人民的民族自豪感。依托这一厚重红色背景，我们精心打造了这款多功能红色主题网页。</a:t>
            </a:r>
            <a:endParaRPr lang="zh-CN" altLang="en-US" sz="20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网页紧扣红色基调，以庄重红金为主色，搭配简洁大气的版式，既彰显技术层面的美观质感，又确保栏目逻辑清晰、重点突出。从内容到形式，始终传递积极向上的价值导向。其核心优势，正源于对时代脉搏的精准把握：深度契合国家推动红色文化传承的政策导向，亦呼应了人民群众对红色精神的情感共鸣与学习需求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47745" y="2674690"/>
            <a:ext cx="10969200" cy="705600"/>
          </a:xfrm>
        </p:spPr>
        <p:txBody>
          <a:bodyPr/>
          <a:p>
            <a:pPr algn="ctr"/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zh-CN" altLang="en-US"/>
              <a:t>模块介绍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1673225" y="1116330"/>
          <a:ext cx="868807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540"/>
                <a:gridCol w="614553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板块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设计理念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七大模块（兵器为彩蛋）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五角星在上，红色背景，象征红色血脉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红色精神内涵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爱国主义、团结协作、艰苦奋斗三大核心，阐释红色精神的丰富内涵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红色记忆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选取四组图片，生动展现中国那抹鲜艳</a:t>
                      </a:r>
                      <a:r>
                        <a:rPr lang="en-US" altLang="zh-CN"/>
                        <a:t> “</a:t>
                      </a:r>
                      <a:r>
                        <a:rPr lang="zh-CN" altLang="en-US"/>
                        <a:t>红</a:t>
                      </a:r>
                      <a:r>
                        <a:rPr lang="en-US" altLang="zh-CN"/>
                        <a:t>” </a:t>
                      </a:r>
                      <a:r>
                        <a:rPr lang="zh-CN" altLang="en-US"/>
                        <a:t>的深刻意蕴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红色精神传承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记录参与红色传承行动的人数，激励更多人共续红色精神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719195" y="4813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主页面设计</a:t>
            </a:r>
            <a:endParaRPr lang="zh-CN" altLang="en-US" sz="3200" b="1"/>
          </a:p>
        </p:txBody>
      </p:sp>
      <p:pic>
        <p:nvPicPr>
          <p:cNvPr id="8" name="图片 7" descr="微信图片_20250916210021_1933_8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" y="3174365"/>
            <a:ext cx="3240405" cy="2188210"/>
          </a:xfrm>
          <a:prstGeom prst="rect">
            <a:avLst/>
          </a:prstGeom>
        </p:spPr>
      </p:pic>
      <p:pic>
        <p:nvPicPr>
          <p:cNvPr id="9" name="图片 8" descr="微信图片_20250916210234_1937_878"/>
          <p:cNvPicPr>
            <a:picLocks noChangeAspect="1"/>
          </p:cNvPicPr>
          <p:nvPr/>
        </p:nvPicPr>
        <p:blipFill>
          <a:blip r:embed="rId3"/>
          <a:srcRect l="25668" t="41720" r="24460" b="21718"/>
          <a:stretch>
            <a:fillRect/>
          </a:stretch>
        </p:blipFill>
        <p:spPr>
          <a:xfrm>
            <a:off x="3900170" y="3225165"/>
            <a:ext cx="4226560" cy="2188845"/>
          </a:xfrm>
          <a:prstGeom prst="rect">
            <a:avLst/>
          </a:prstGeom>
        </p:spPr>
      </p:pic>
      <p:pic>
        <p:nvPicPr>
          <p:cNvPr id="10" name="图片 9" descr="微信图片_20250916210236_1939_8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730" y="3273425"/>
            <a:ext cx="3677920" cy="2188210"/>
          </a:xfrm>
          <a:prstGeom prst="rect">
            <a:avLst/>
          </a:prstGeom>
        </p:spPr>
      </p:pic>
      <p:pic>
        <p:nvPicPr>
          <p:cNvPr id="2" name="图片 1" descr="主页面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010" y="5204460"/>
            <a:ext cx="4823460" cy="13931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15620" y="482600"/>
          <a:ext cx="11127740" cy="590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290"/>
                <a:gridCol w="8553450"/>
              </a:tblGrid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模块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功能介绍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一，重走长征路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助力广大群众深入理解长征关键事件，将长征精神铭记于心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二，象棋之战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以长征时期著名战役为象棋背景，通过残局模拟战争，以象棋为切入点深入展现长征之路，是作品亮点，也是网页极具代表性的模块之一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三，时间长河纪念馆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记录了中国从鸦片战争到现代化建设的民族复兴历程（</a:t>
                      </a:r>
                      <a:r>
                        <a:rPr lang="en-US" altLang="zh-CN"/>
                        <a:t>1840-2025</a:t>
                      </a:r>
                      <a:r>
                        <a:rPr lang="zh-CN" altLang="en-US"/>
                        <a:t>），采用时间线，让访问者更好地梳理中国红色精神，红色血脉，以及中国发展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四，祭祀大典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涵盖中国历代革命将士、爱国人士与科学家等，支持线上点亮蜡烛祭祀，让</a:t>
                      </a:r>
                      <a:r>
                        <a:rPr lang="en-US" altLang="zh-CN"/>
                        <a:t> “</a:t>
                      </a:r>
                      <a:r>
                        <a:rPr lang="zh-CN" altLang="en-US"/>
                        <a:t>英雄</a:t>
                      </a:r>
                      <a:r>
                        <a:rPr lang="en-US" altLang="zh-CN"/>
                        <a:t>” </a:t>
                      </a:r>
                      <a:r>
                        <a:rPr lang="zh-CN" altLang="en-US"/>
                        <a:t>二字深植每个中国人心中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五，新中国之父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以不同时间阶段为线索，介绍从韶山冲走出的革命领袖、中国人民伟大导师毛泽东的光辉一生，助力从纵向维度读懂毛主席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六，国家大事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帮助公民了解国家运行状况与未来发展方向；凝聚社会共识，维护社会稳定；塑造国家形象，增强民族认同；引导社会注意力聚焦关乎民生的关键议题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七，全球新闻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培养公民国际视野与全球化思维，助力在更广阔视角下理解中国发展，帮助公众领会中国外交政策与伙伴战略，进而更好理解中国全方位发展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象棋之战，</a:t>
            </a:r>
            <a:r>
              <a:rPr lang="zh-CN" altLang="en-US"/>
              <a:t>纸上谈兵</a:t>
            </a:r>
            <a:endParaRPr lang="zh-CN" altLang="en-US"/>
          </a:p>
        </p:txBody>
      </p:sp>
      <p:pic>
        <p:nvPicPr>
          <p:cNvPr id="3" name="图片 2" descr="9bec4387639aa38e17697e0d8937b28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3585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ess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7340"/>
            <a:ext cx="12192000" cy="62433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498215" y="466090"/>
            <a:ext cx="5194935" cy="649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下面是其中几个模块截图</a:t>
            </a:r>
            <a:endParaRPr lang="zh-CN" altLang="en-US"/>
          </a:p>
        </p:txBody>
      </p:sp>
      <p:pic>
        <p:nvPicPr>
          <p:cNvPr id="2" name="图片 1" descr="chess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" y="842645"/>
            <a:ext cx="10390505" cy="5384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13435" y="-106680"/>
            <a:ext cx="14622780" cy="70713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ess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9715"/>
            <a:ext cx="12192000" cy="63379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ess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313170" cy="3263265"/>
          </a:xfrm>
          <a:prstGeom prst="rect">
            <a:avLst/>
          </a:prstGeom>
        </p:spPr>
      </p:pic>
      <p:pic>
        <p:nvPicPr>
          <p:cNvPr id="5" name="图片 4" descr="chess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485" y="0"/>
            <a:ext cx="5898515" cy="3262630"/>
          </a:xfrm>
          <a:prstGeom prst="rect">
            <a:avLst/>
          </a:prstGeom>
        </p:spPr>
      </p:pic>
      <p:pic>
        <p:nvPicPr>
          <p:cNvPr id="6" name="图片 5" descr="chess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" y="3263265"/>
            <a:ext cx="6095365" cy="3286125"/>
          </a:xfrm>
          <a:prstGeom prst="rect">
            <a:avLst/>
          </a:prstGeom>
        </p:spPr>
      </p:pic>
      <p:pic>
        <p:nvPicPr>
          <p:cNvPr id="7" name="图片 6" descr="chess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445" y="3324225"/>
            <a:ext cx="5952490" cy="32251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93765" cy="3700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765" y="0"/>
            <a:ext cx="6064885" cy="3635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00145"/>
            <a:ext cx="5962650" cy="3241675"/>
          </a:xfrm>
          <a:prstGeom prst="rect">
            <a:avLst/>
          </a:prstGeom>
        </p:spPr>
      </p:pic>
      <p:pic>
        <p:nvPicPr>
          <p:cNvPr id="5" name="图片 4" descr="4d0aa918602e5f831343ff1bf94408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755" y="3429000"/>
            <a:ext cx="6065520" cy="33508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兵器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" y="0"/>
            <a:ext cx="12127230" cy="75939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国际大师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" y="564515"/>
            <a:ext cx="5305425" cy="2767330"/>
          </a:xfrm>
          <a:prstGeom prst="rect">
            <a:avLst/>
          </a:prstGeom>
        </p:spPr>
      </p:pic>
      <p:pic>
        <p:nvPicPr>
          <p:cNvPr id="3" name="图片 2" descr="国家大事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795" y="564515"/>
            <a:ext cx="5336540" cy="2818765"/>
          </a:xfrm>
          <a:prstGeom prst="rect">
            <a:avLst/>
          </a:prstGeom>
        </p:spPr>
      </p:pic>
      <p:pic>
        <p:nvPicPr>
          <p:cNvPr id="4" name="图片 3" descr="近代见识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" y="3429000"/>
            <a:ext cx="5496560" cy="2986405"/>
          </a:xfrm>
          <a:prstGeom prst="rect">
            <a:avLst/>
          </a:prstGeom>
        </p:spPr>
      </p:pic>
      <p:pic>
        <p:nvPicPr>
          <p:cNvPr id="5" name="图片 4" descr="近代见识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795" y="3494405"/>
            <a:ext cx="5394960" cy="28555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人物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005"/>
            <a:ext cx="12192000" cy="65538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纪念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3210" y="-159385"/>
            <a:ext cx="12475210" cy="70180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3076645"/>
            <a:ext cx="10969200" cy="705600"/>
          </a:xfrm>
        </p:spPr>
        <p:txBody>
          <a:bodyPr/>
          <a:p>
            <a:pPr algn="ctr"/>
            <a:r>
              <a:rPr lang="zh-CN" altLang="en-US"/>
              <a:t>三</a:t>
            </a:r>
            <a:r>
              <a:rPr lang="en-US" altLang="zh-CN"/>
              <a:t>.</a:t>
            </a:r>
            <a:r>
              <a:rPr lang="zh-CN" altLang="en-US"/>
              <a:t>痛点与痛点解决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2520" y="440125"/>
            <a:ext cx="10969200" cy="705600"/>
          </a:xfrm>
        </p:spPr>
        <p:txBody>
          <a:bodyPr/>
          <a:p>
            <a:pPr algn="ctr"/>
            <a:r>
              <a:rPr lang="zh-CN" altLang="en-US"/>
              <a:t>社会问题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3"/>
            </p:custDataLst>
          </p:nvPr>
        </p:nvGraphicFramePr>
        <p:xfrm>
          <a:off x="612140" y="1027430"/>
          <a:ext cx="10968355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7355"/>
                <a:gridCol w="4918075"/>
                <a:gridCol w="1812925"/>
              </a:tblGrid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出现的社会问题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解决办法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对应模块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时代鸿沟难以抹平，当今青年一辈更多精力在事业奋斗，渐渐远离了</a:t>
                      </a:r>
                      <a:r>
                        <a:rPr lang="zh-CN" altLang="en-US"/>
                        <a:t>红色历史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了解长征走过的路，了解长征的著名战役与关键节点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重走长征路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在物质充裕的年代，部分人会导致躺平，缺乏奋斗目标，克服困难的勇气。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通过象棋来模拟长征的艰苦奋战，本质上就是一场沉浸式的体会智慧与勇气的象棋游戏。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象棋之战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网络上有很多歪曲中国近代史的言论；年轻一代缺乏与父辈的情感共鸣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通过记录中国的时间长河，将抽象的历史转化为可感可知的沉浸式体验，感悟红色精神。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时间长河纪念馆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当代许多年轻人盲目追星，却忘记了我们真正需要追的</a:t>
                      </a:r>
                      <a:r>
                        <a:rPr lang="en-US" altLang="zh-CN"/>
                        <a:t>“</a:t>
                      </a:r>
                      <a:r>
                        <a:rPr lang="zh-CN" altLang="en-US"/>
                        <a:t>星</a:t>
                      </a:r>
                      <a:r>
                        <a:rPr lang="en-US" altLang="zh-CN"/>
                        <a:t>”</a:t>
                      </a:r>
                      <a:r>
                        <a:rPr lang="zh-CN" altLang="en-US"/>
                        <a:t>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通过线上祭祀，让中国英雄永远被铭记在每一个中国人的心中，赓续红色文化，奋斗终身。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祭祀大典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目前有很多人不了解新中国之父，认为只要过好当下就可以，没必要去知道过去。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通过时间线了解毛主席的一生，</a:t>
                      </a:r>
                      <a:r>
                        <a:rPr lang="zh-CN" altLang="zh-CN" sz="1800">
                          <a:sym typeface="+mn-ea"/>
                        </a:rPr>
                        <a:t>赓续红色血脉，传承奋斗精神。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新中国之父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普通民众与决策层存在信息差；在多元思潮并存下，很容易出现分歧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该模块可以充当权威的信息发布和解释平台，强化国民自豪感归属感和集体记忆，并且形成讨论和行动的合力。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国家大事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全球的新闻很容易影响到国内，很多国民视野进局限于国内。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该模块通过扩展全球视野，让人民在比较中更清晰的认识本国的位置，优势与不足。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全球新闻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548130" y="661035"/>
            <a:ext cx="10968990" cy="5245100"/>
          </a:xfrm>
        </p:spPr>
        <p:txBody>
          <a:bodyPr/>
          <a:p>
            <a:pPr algn="ctr"/>
            <a:r>
              <a:rPr lang="zh-CN" altLang="en-US" sz="9600">
                <a:latin typeface="华文行楷" panose="02010800040101010101" charset="-122"/>
                <a:ea typeface="华文行楷" panose="02010800040101010101" charset="-122"/>
              </a:rPr>
              <a:t>感谢观看！</a:t>
            </a:r>
            <a:endParaRPr lang="zh-CN" altLang="en-US" sz="9600"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90345"/>
            <a:ext cx="10968990" cy="13404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zh-CN" sz="3200">
                <a:solidFill>
                  <a:schemeClr val="accent6"/>
                </a:solidFill>
                <a:sym typeface="+mn-ea"/>
              </a:rPr>
              <a:t>！</a:t>
            </a:r>
            <a:endParaRPr lang="zh-CN" altLang="zh-CN" sz="3200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TABLE_ENDDRAG_ORIGIN_RECT" val="876*465"/>
  <p:tag name="TABLE_ENDDRAG_RECT" val="40*38*876*465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TABLE_ENDDRAG_ORIGIN_RECT" val="863*371"/>
  <p:tag name="TABLE_ENDDRAG_RECT" val="47*103*863*372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1611</Words>
  <Application>WPS 演示</Application>
  <PresentationFormat>宽屏</PresentationFormat>
  <Paragraphs>131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华文隶书</vt:lpstr>
      <vt:lpstr>华文行楷</vt:lpstr>
      <vt:lpstr>WPS</vt:lpstr>
      <vt:lpstr>赓续红色血脉，传承奋斗精神</vt:lpstr>
      <vt:lpstr>PowerPoint 演示文稿</vt:lpstr>
      <vt:lpstr>一.制作背景</vt:lpstr>
      <vt:lpstr>政策支持</vt:lpstr>
      <vt:lpstr>二.模块介绍</vt:lpstr>
      <vt:lpstr>PowerPoint 演示文稿</vt:lpstr>
      <vt:lpstr>PowerPoint 演示文稿</vt:lpstr>
      <vt:lpstr>象棋之战，纸上谈兵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三.痛点与痛点解决</vt:lpstr>
      <vt:lpstr>社会问题</vt:lpstr>
      <vt:lpstr>感谢观看！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昭阳</cp:lastModifiedBy>
  <cp:revision>168</cp:revision>
  <dcterms:created xsi:type="dcterms:W3CDTF">2019-06-19T02:08:00Z</dcterms:created>
  <dcterms:modified xsi:type="dcterms:W3CDTF">2025-09-18T12:14:00Z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15C285D880EC4902BCD8EABBD857139C_11</vt:lpwstr>
  </property>
</Properties>
</file>